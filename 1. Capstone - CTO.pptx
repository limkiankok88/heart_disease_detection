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86" r:id="rId7"/>
    <p:sldId id="287" r:id="rId8"/>
    <p:sldId id="288" r:id="rId9"/>
    <p:sldId id="289" r:id="rId10"/>
    <p:sldId id="295" r:id="rId11"/>
    <p:sldId id="290" r:id="rId12"/>
    <p:sldId id="291" r:id="rId13"/>
    <p:sldId id="293" r:id="rId14"/>
    <p:sldId id="294" r:id="rId15"/>
    <p:sldId id="264" r:id="rId16"/>
    <p:sldId id="275" r:id="rId17"/>
    <p:sldId id="292" r:id="rId18"/>
    <p:sldId id="282" r:id="rId19"/>
  </p:sldIdLst>
  <p:sldSz cx="9144000" cy="5143500" type="screen16x9"/>
  <p:notesSz cx="6858000" cy="9144000"/>
  <p:embeddedFontLst>
    <p:embeddedFont>
      <p:font typeface="Raleway ExtraBold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---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Welcome to our Data Analysis with Python tutorial.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My name is Santiago, and I'm an instructor at RMOTR.com, an online Data Science academy.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dirty="0"/>
              <a:t>This tutorial is the result of a joint effort by RMOTR and freecodecamp and it's totally free. It includes Slides, Jupyter Notebooks and coding exercises.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32f8f14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32f8f14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fe1465eda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fe1465eda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0d1ccef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0d1ccef0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0d1ccef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0d1ccef0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70d1cce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70d1cce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explore the Python and PyData ecosystem. All the tools and libraries that we’ll be using.</a:t>
            </a: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hyperlink" Target="http://scikit-learn.org/stable/" TargetMode="External"/><Relationship Id="rId7" Type="http://schemas.openxmlformats.org/officeDocument/2006/relationships/hyperlink" Target="https://scipy.org/" TargetMode="External"/><Relationship Id="rId6" Type="http://schemas.openxmlformats.org/officeDocument/2006/relationships/hyperlink" Target="https://www.statsmodels.org/stable/index.html" TargetMode="External"/><Relationship Id="rId5" Type="http://schemas.openxmlformats.org/officeDocument/2006/relationships/hyperlink" Target="https://seaborn.pydata.org/" TargetMode="External"/><Relationship Id="rId4" Type="http://schemas.openxmlformats.org/officeDocument/2006/relationships/hyperlink" Target="https://matplotlib.org/" TargetMode="External"/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pandas.pydata.org/" TargetMode="External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216660" y="1335405"/>
            <a:ext cx="6801485" cy="9734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Predictive</a:t>
            </a:r>
            <a:r>
              <a:rPr 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lang="en-US" altLang="en-US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Analytics</a:t>
            </a:r>
            <a:endParaRPr lang="en-US" altLang="en-US" dirty="0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algn="ctr"/>
            <a:r>
              <a:rPr lang="en-SG" altLang="en-GB" sz="3200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</a:rPr>
              <a:t>8.1 Heart disease detection</a:t>
            </a:r>
            <a:endParaRPr lang="en-SG" altLang="en-GB" sz="3200" dirty="0">
              <a:solidFill>
                <a:srgbClr val="FFFFFF"/>
              </a:solidFill>
              <a:latin typeface="Raleway ExtraBold"/>
              <a:ea typeface="Raleway ExtraBold"/>
              <a:cs typeface="Raleway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761500" y="1152475"/>
            <a:ext cx="4747026" cy="29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286150" y="1457275"/>
            <a:ext cx="4312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Objectives 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Problem statement 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Research objectives 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Predictive models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Accuracy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Data Cleaning, Transformation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Confusion Matrix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Future expansions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Data Analysis Tools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SG" altLang="en-US" sz="1400" dirty="0"/>
              <a:t>Q &amp; A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endParaRPr lang="en-US" altLang="en-US" sz="1400" dirty="0"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2849700" y="673625"/>
            <a:ext cx="344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About this </a:t>
            </a:r>
            <a:r>
              <a:rPr lang="en-SG" alt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project</a:t>
            </a:r>
            <a:endParaRPr lang="en-SG" altLang="en-GB"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682625" y="370804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6858876" y="2906666"/>
            <a:ext cx="2230800" cy="14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This project allows to integrate and apply the knowledge, skills and concepts that you have acquired throughout the academic journey. 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• It allows to demonstrate the understanding of key concepts, methodologies and best practices. 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• It helps in professional development by fostering skills such as time management, teamwork and problem solving.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Objective</a:t>
            </a: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s</a:t>
            </a: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 </a:t>
            </a:r>
            <a:endParaRPr lang="en-US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Heart disease is a leading cause of mortality worldwide.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Early detection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accurate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prediction of heart disease can significantly improve patient outcomes by enabling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timely intervention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preventive measures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 The objective of this project is to develop a machine learning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model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that can effectively predict the presence or absence of heart disease based on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various medical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lifestyle factors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Problem statement </a:t>
            </a:r>
            <a:endParaRPr lang="en-US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1.Identify possible causes of getting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2.Identify segments that have high chance of getting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3.Create models to predict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4.Preventive measures to get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5.Detection of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Research objectives </a:t>
            </a:r>
            <a:endParaRPr lang="en-US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39695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3.Create models to predict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Linear Logistic Regression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Linear Support Vector Machine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K Nearest Neighbours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Naive Bayes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Decision Tree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Random Forest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Predictive models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39695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08150" y="36303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Accuracy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456565" y="935990"/>
          <a:ext cx="8412480" cy="3699510"/>
        </p:xfrm>
        <a:graphic>
          <a:graphicData uri="http://schemas.openxmlformats.org/drawingml/2006/table">
            <a:tbl>
              <a:tblPr/>
              <a:tblGrid>
                <a:gridCol w="605790"/>
                <a:gridCol w="1235075"/>
                <a:gridCol w="641985"/>
                <a:gridCol w="593725"/>
                <a:gridCol w="592455"/>
                <a:gridCol w="593090"/>
                <a:gridCol w="592455"/>
                <a:gridCol w="593725"/>
                <a:gridCol w="592455"/>
                <a:gridCol w="593090"/>
                <a:gridCol w="592455"/>
                <a:gridCol w="593725"/>
                <a:gridCol w="592455"/>
              </a:tblGrid>
              <a:tr h="105727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#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Model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70% train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80% train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90% train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One-Hot Encoding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One-Hot Encoding SG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Label, One-Hot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4 features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1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Logistic Regression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73.26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71.46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2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SVM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51.42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57.26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49.11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50.90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45.45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32.29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50.67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3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 Neighbors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71.11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70.99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70.96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70.64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 Neighbors Max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71.53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71.35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70.88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4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Categorical NB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72.35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72.17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72.88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70.65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Gaussian NB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69.66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69.68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69.64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70.86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69.38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69.52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5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Decision Tree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72.32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72.32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72.92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72.80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Decision Tree Max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73.03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72.98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71.72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Random Forest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73.16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73.05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Random Forest Max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72.76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72.73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73.31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73.16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71.13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760" y="751205"/>
            <a:ext cx="8412480" cy="42665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4 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Main features: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age_group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ap_hi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ap_lo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cholesterol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 71% accuracy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</a:rPr>
              <a:t>Age group</a:t>
            </a:r>
            <a:r>
              <a:rPr lang="en-US" altLang="en-US" sz="2000">
                <a:solidFill>
                  <a:schemeClr val="hlink"/>
                </a:solidFill>
              </a:rPr>
              <a:t> 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getting heart disease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30 - 24.3%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40 - 38.0%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50 - 51.6%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60 - 67.0%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u="sng">
                <a:solidFill>
                  <a:schemeClr val="hlink"/>
                </a:solidFill>
                <a:sym typeface="+mn-ea"/>
              </a:rPr>
              <a:t>Blood Pressure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heart disease when ap_hi &gt; 130, ap_lo &gt; 90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</a:rPr>
              <a:t>Cholesterol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1 - 44%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2 - 60.2%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3 - 76.5%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</a:rPr>
              <a:t>N</a:t>
            </a:r>
            <a:r>
              <a:rPr lang="en-US" altLang="en-US" sz="2000" u="sng">
                <a:solidFill>
                  <a:schemeClr val="hlink"/>
                </a:solidFill>
              </a:rPr>
              <a:t>o significance</a:t>
            </a:r>
            <a:r>
              <a:rPr lang="en-US" altLang="en-US" sz="1995" dirty="0">
                <a:latin typeface="Times New Roman" panose="02020603050405020304" charset="0"/>
                <a:cs typeface="Times New Roman" panose="02020603050405020304" charset="0"/>
              </a:rPr>
              <a:t> of heart disease by country, occupation, gender, active, alco, gluc, smoke</a:t>
            </a:r>
            <a:endParaRPr lang="en-US" altLang="en-US" sz="199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altLang="en-US" sz="199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08150" y="199840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Insights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760" y="702945"/>
            <a:ext cx="8412480" cy="41103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gender	1 = Male	2 = Female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Blood pressure restricts to the following range.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ap_hi	59 to 201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Replace with min (59, 40) or max value (201).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ap_lo	40 to 201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other fields can still be used.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age_group = age / 3650, 10 years bin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added field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pca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= 0.5479*active + 0.2249*age_group + 0.1570*alco + …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5.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Label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e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ncod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ing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6. O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ne-hot encoding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Z-score normalization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height, weight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729410" y="199840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Data Cleaning, Transformation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760" y="1397000"/>
            <a:ext cx="8412480" cy="5727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</a:rPr>
              <a:t>A</a:t>
            </a:r>
            <a:r>
              <a:rPr lang="en-US" altLang="en-US" sz="2000" u="sng">
                <a:solidFill>
                  <a:schemeClr val="hlink"/>
                </a:solidFill>
              </a:rPr>
              <a:t>ccuracy, precision, recall</a:t>
            </a:r>
            <a:endParaRPr lang="en-US" altLang="en-US" sz="2000" u="sng">
              <a:solidFill>
                <a:schemeClr val="hlink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909750" y="82404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Confusion Matrix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10" y="1889443"/>
            <a:ext cx="5232400" cy="2920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39695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Deployment and Integration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u="sng">
              <a:solidFill>
                <a:schemeClr val="hlink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</a:rPr>
              <a:t>Scalability and Adaptability</a:t>
            </a:r>
            <a:r>
              <a:rPr lang="en-GB" sz="2000" u="sng">
                <a:solidFill>
                  <a:schemeClr val="hlink"/>
                </a:solidFill>
              </a:rPr>
              <a:t> - SQL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Inner Join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Left Outer Join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Right Outer Join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Full Outer Join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Model Monitoring and Maintenance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909750" y="82404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Model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39695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u="sng">
                <a:solidFill>
                  <a:schemeClr val="hlink"/>
                </a:solidFill>
                <a:sym typeface="+mn-ea"/>
              </a:rPr>
              <a:t>Enhance features</a:t>
            </a:r>
            <a:endParaRPr lang="en-SG" sz="2000" u="sng">
              <a:solidFill>
                <a:schemeClr val="hlink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physical health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mental health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nutrition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lifestyle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Use ML packages 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TensorFlow</a:t>
            </a: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,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 PyTorch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Commercial ML packages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u="sng">
                <a:solidFill>
                  <a:schemeClr val="hlink"/>
                </a:solidFill>
              </a:rPr>
              <a:t>Computing power</a:t>
            </a:r>
            <a:endParaRPr lang="en-SG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08150" y="54718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Future expansions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Data Analysis Tools</a:t>
            </a:r>
            <a:endParaRPr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70350" y="162492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3744401" y="180291"/>
            <a:ext cx="2230800" cy="14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768900" y="162450"/>
            <a:ext cx="42603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4B68F1"/>
                </a:solidFill>
              </a:rPr>
              <a:t>PYTHON ECOSYSTEM:</a:t>
            </a:r>
            <a:endParaRPr sz="1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libraries we use...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body" idx="1"/>
          </p:nvPr>
        </p:nvSpPr>
        <p:spPr>
          <a:xfrm>
            <a:off x="957545" y="571320"/>
            <a:ext cx="7009200" cy="32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2"/>
              </a:rPr>
              <a:t>pandas</a:t>
            </a:r>
            <a:r>
              <a:rPr lang="en-GB" sz="1300"/>
              <a:t>: The cornerstone of our Data Analysis job with Python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sym typeface="+mn-ea"/>
                <a:hlinkClick r:id="rId3"/>
              </a:rPr>
              <a:t>numpy</a:t>
            </a:r>
            <a:r>
              <a:rPr lang="en-GB" sz="1300">
                <a:sym typeface="+mn-ea"/>
              </a:rPr>
              <a:t>: The numeric library that serves as the foundation of all calculations in Python.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4"/>
              </a:rPr>
              <a:t>matplotlib</a:t>
            </a:r>
            <a:r>
              <a:rPr lang="en-GB" sz="1300"/>
              <a:t>: The foundational library for visualizations. Other libraries we’ll use will be built on top of matplotlib.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5"/>
              </a:rPr>
              <a:t>seaborn</a:t>
            </a:r>
            <a:r>
              <a:rPr lang="en-GB" sz="1300"/>
              <a:t>: A statistical visualization tool built on top of matplotlib.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6"/>
              </a:rPr>
              <a:t>statsmodels</a:t>
            </a:r>
            <a:r>
              <a:rPr lang="en-GB" sz="1300"/>
              <a:t>: A library with many advanced statistical functions.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7"/>
              </a:rPr>
              <a:t>scipy</a:t>
            </a:r>
            <a:r>
              <a:rPr lang="en-GB" sz="1300"/>
              <a:t>: Advanced scientific computing, including functions for optimization, linear algebra, image processing and much more.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8"/>
              </a:rPr>
              <a:t>scikit-learn</a:t>
            </a:r>
            <a:r>
              <a:rPr lang="en-GB" sz="1300"/>
              <a:t>: The most popular machine learning library for Python (not deep learning)</a:t>
            </a:r>
            <a:endParaRPr lang="en-GB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</a:rPr>
              <a:t>joblib</a:t>
            </a:r>
            <a:r>
              <a:rPr lang="en-SG" altLang="en-GB" sz="1300" u="sng">
                <a:solidFill>
                  <a:schemeClr val="hlink"/>
                </a:solidFill>
              </a:rPr>
              <a:t>:</a:t>
            </a:r>
            <a:r>
              <a:rPr lang="en-SG" altLang="en-GB" sz="1300">
                <a:sym typeface="+mn-ea"/>
              </a:rPr>
              <a:t> Save and load model</a:t>
            </a:r>
            <a:endParaRPr lang="en-GB" sz="1300" u="sng">
              <a:solidFill>
                <a:schemeClr val="hlink"/>
              </a:solidFill>
            </a:endParaRPr>
          </a:p>
          <a:p>
            <a:pPr marL="14605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SG" sz="1300" u="sng">
                <a:solidFill>
                  <a:schemeClr val="hlink"/>
                </a:solidFill>
                <a:sym typeface="+mn-ea"/>
              </a:rPr>
              <a:t>Data Transform</a:t>
            </a:r>
            <a:endParaRPr lang="en-SG" sz="1300" u="sng">
              <a:solidFill>
                <a:schemeClr val="hlink"/>
              </a:solidFill>
            </a:endParaRPr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>
                <a:sym typeface="+mn-ea"/>
              </a:rPr>
              <a:t>from sklearn.preprocessing import StandardScaler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>
                <a:sym typeface="+mn-ea"/>
              </a:rPr>
              <a:t>from sklearn.preprocessing import LabelEncoder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70350" y="162492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3744401" y="180291"/>
            <a:ext cx="2230800" cy="14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768900" y="331995"/>
            <a:ext cx="42603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4B68F1"/>
                </a:solidFill>
              </a:rPr>
              <a:t>PYTHON ECOSYSTEM:</a:t>
            </a:r>
            <a:endParaRPr sz="1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libraries we use...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body" idx="1"/>
          </p:nvPr>
        </p:nvSpPr>
        <p:spPr>
          <a:xfrm>
            <a:off x="1012155" y="875485"/>
            <a:ext cx="7009200" cy="32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SG" sz="1300" u="sng">
                <a:solidFill>
                  <a:schemeClr val="hlink"/>
                </a:solidFill>
                <a:sym typeface="+mn-ea"/>
              </a:rPr>
              <a:t>Models</a:t>
            </a:r>
            <a:endParaRPr lang="en-SG" sz="1300" u="sng">
              <a:solidFill>
                <a:schemeClr val="hlink"/>
              </a:solidFill>
            </a:endParaRPr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sklearn.linear_model import LogisticRegression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sklearn.neighbors import KNeighborsClassifier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sklearn.svm import SVC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sklearn.naive_bayes import CategoricalNB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sklearn.naive_bayes import GaussianNB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sklearn.tree import DecisionTreeClassifier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sklearn.ensemble import RandomForestClassifier</a:t>
            </a:r>
            <a:endParaRPr lang="en-US" altLang="en-US" sz="1300"/>
          </a:p>
          <a:p>
            <a:pPr marL="14605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SG" sz="1300" u="sng">
                <a:solidFill>
                  <a:schemeClr val="hlink"/>
                </a:solidFill>
                <a:sym typeface="+mn-ea"/>
              </a:rPr>
              <a:t>Accuracy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sklearn.metrics import confusion_matrix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sklearn.metrics import classification_report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sklearn.metrics import accuracy_score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en-US" alt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Q &amp; A</a:t>
            </a:r>
            <a:br>
              <a:rPr lang="en-SG" alt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</a:br>
            <a:r>
              <a:rPr 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Thank you</a:t>
            </a:r>
            <a:endParaRPr dirty="0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2*291"/>
  <p:tag name="TABLE_ENDDRAG_RECT" val="52*73*662*29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4493</Words>
  <Application>WPS Presentation</Application>
  <PresentationFormat>On-screen Show (16:9)</PresentationFormat>
  <Paragraphs>340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Raleway ExtraBold</vt:lpstr>
      <vt:lpstr>Times New Roman</vt:lpstr>
      <vt:lpstr>Aptos Narrow</vt:lpstr>
      <vt:lpstr>Segoe UI Variable Display</vt:lpstr>
      <vt:lpstr>Times New Roman</vt:lpstr>
      <vt:lpstr>Microsoft YaHei</vt:lpstr>
      <vt:lpstr>Arial Unicode MS</vt:lpstr>
      <vt:lpstr>Simple Light</vt:lpstr>
      <vt:lpstr>Predictive Analytics</vt:lpstr>
      <vt:lpstr>About this project</vt:lpstr>
      <vt:lpstr>Objectives </vt:lpstr>
      <vt:lpstr>Problem statement </vt:lpstr>
      <vt:lpstr>Research objectives </vt:lpstr>
      <vt:lpstr>Predictive models</vt:lpstr>
      <vt:lpstr>Accuracy</vt:lpstr>
      <vt:lpstr>Insights</vt:lpstr>
      <vt:lpstr>Data Cleaning, Transformation</vt:lpstr>
      <vt:lpstr>Confusion Matrix</vt:lpstr>
      <vt:lpstr>Model</vt:lpstr>
      <vt:lpstr>Future expansions</vt:lpstr>
      <vt:lpstr>Data Analysis Tools</vt:lpstr>
      <vt:lpstr>The libraries we use...</vt:lpstr>
      <vt:lpstr>The libraries we use...</vt:lpstr>
      <vt:lpstr>Q &amp; A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WPS_1711769575</cp:lastModifiedBy>
  <cp:revision>21</cp:revision>
  <dcterms:created xsi:type="dcterms:W3CDTF">2026-10-20T02:03:00Z</dcterms:created>
  <dcterms:modified xsi:type="dcterms:W3CDTF">2026-10-26T09:57:48Z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D1D95303C733433ABB59E908D4320B4F_12</vt:lpwstr>
  </property>
  <property fmtid="{D5CDD505-2E9C-101B-9397-08002B2CF9AE}" pid="3" name="KSOProductBuildVer">
    <vt:lpwstr>1033-12.1.0.29162</vt:lpwstr>
  </property>
</Properties>
</file>