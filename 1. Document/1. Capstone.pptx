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4" r:id="rId8"/>
    <p:sldId id="265" r:id="rId9"/>
    <p:sldId id="267" r:id="rId10"/>
    <p:sldId id="268" r:id="rId11"/>
    <p:sldId id="270" r:id="rId12"/>
    <p:sldId id="271" r:id="rId13"/>
    <p:sldId id="284" r:id="rId14"/>
    <p:sldId id="273" r:id="rId15"/>
    <p:sldId id="283" r:id="rId16"/>
    <p:sldId id="285" r:id="rId17"/>
    <p:sldId id="274" r:id="rId18"/>
    <p:sldId id="275" r:id="rId19"/>
    <p:sldId id="282" r:id="rId20"/>
  </p:sldIdLst>
  <p:sldSz cx="9144000" cy="5143500" type="screen16x9"/>
  <p:notesSz cx="6858000" cy="9144000"/>
  <p:embeddedFontLst>
    <p:embeddedFont>
      <p:font typeface="Raleway ExtraBold"/>
      <p:bold r:id="rId24"/>
    </p:embeddedFont>
    <p:embeddedFont>
      <p:font typeface="Raleway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---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Welcome to our Data Analysis with Python tutorial.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My name is Santiago, and I'm an instructor at RMOTR.com, an online Data Science academy.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This tutorial is the result of a joint effort by RMOTR and freecodecamp and it's totally free. It includes Slides, Jupyter Notebooks and coding exercises.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32f8f14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32f8f14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12de857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12de857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6fe1465eda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6fe1465eda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6fe1465eda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6fe1465eda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700029406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700029406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000294063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000294063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000294063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000294063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000294063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000294063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700029406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700029406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000294063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000294063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71124c4b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71124c4b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70d1cce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70d1cce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70d1ccef0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70d1ccef0c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70d1cce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70d1cce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explore the Python and PyData ecosystem. All the tools and libraries that we’ll be using.</a:t>
            </a:r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6.png"/><Relationship Id="rId3" Type="http://schemas.openxmlformats.org/officeDocument/2006/relationships/hyperlink" Target="https://github.com/rmotr-curriculum/ds-content-interactive-jupyterlab-tutorial" TargetMode="External"/><Relationship Id="rId2" Type="http://schemas.openxmlformats.org/officeDocument/2006/relationships/hyperlink" Target="https://github.com/rmotr-curriculum/FreeCodeCamp-Pandas-Real-Life-Example" TargetMode="Externa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.png"/><Relationship Id="rId3" Type="http://schemas.openxmlformats.org/officeDocument/2006/relationships/image" Target="../media/image4.png"/><Relationship Id="rId2" Type="http://schemas.openxmlformats.org/officeDocument/2006/relationships/hyperlink" Target="https://en.wikipedia.org/wiki/Data_analysis" TargetMode="Externa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hyperlink" Target="http://scikit-learn.org/stable/" TargetMode="External"/><Relationship Id="rId7" Type="http://schemas.openxmlformats.org/officeDocument/2006/relationships/hyperlink" Target="https://scipy.org/" TargetMode="External"/><Relationship Id="rId6" Type="http://schemas.openxmlformats.org/officeDocument/2006/relationships/hyperlink" Target="https://www.statsmodels.org/stable/index.html" TargetMode="External"/><Relationship Id="rId5" Type="http://schemas.openxmlformats.org/officeDocument/2006/relationships/hyperlink" Target="https://seaborn.pydata.org/" TargetMode="External"/><Relationship Id="rId4" Type="http://schemas.openxmlformats.org/officeDocument/2006/relationships/hyperlink" Target="https://numpy.org/" TargetMode="External"/><Relationship Id="rId3" Type="http://schemas.openxmlformats.org/officeDocument/2006/relationships/hyperlink" Target="https://matplotlib.org/" TargetMode="External"/><Relationship Id="rId2" Type="http://schemas.openxmlformats.org/officeDocument/2006/relationships/hyperlink" Target="https://pandas.pydata.org/" TargetMode="External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044885" y="1335611"/>
            <a:ext cx="4923600" cy="9737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Data Analysis</a:t>
            </a:r>
            <a:endParaRPr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761500" y="1152475"/>
            <a:ext cx="4747026" cy="29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3286150" y="1457275"/>
            <a:ext cx="4312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dirty="0"/>
              <a:t>What is Data Analysis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u="sng" dirty="0">
                <a:solidFill>
                  <a:schemeClr val="hlink"/>
                </a:solidFill>
                <a:hlinkClick r:id="rId2"/>
              </a:rPr>
              <a:t>Real example Data Analysis with Python</a:t>
            </a:r>
            <a:endParaRPr sz="1400"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GB" sz="1400" u="sng" dirty="0">
                <a:solidFill>
                  <a:schemeClr val="hlink"/>
                </a:solidFill>
                <a:hlinkClick r:id="rId3"/>
              </a:rPr>
              <a:t>How to use Jupyter Notebooks</a:t>
            </a:r>
            <a:endParaRPr sz="1400" dirty="0"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2849700" y="673625"/>
            <a:ext cx="3444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About this tutorial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682625" y="370804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6858876" y="2906666"/>
            <a:ext cx="2230800" cy="14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What is Data Analysis?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12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/>
              <a:t>A process of </a:t>
            </a:r>
            <a:r>
              <a:rPr lang="en-GB" b="1" i="1" dirty="0">
                <a:solidFill>
                  <a:srgbClr val="4B68F1"/>
                </a:solidFill>
              </a:rPr>
              <a:t>inspecting, cleansing, transforming </a:t>
            </a:r>
            <a:r>
              <a:rPr lang="en-GB" i="1" dirty="0"/>
              <a:t>and </a:t>
            </a:r>
            <a:r>
              <a:rPr lang="en-GB" b="1" i="1" dirty="0">
                <a:solidFill>
                  <a:srgbClr val="4B68F1"/>
                </a:solidFill>
              </a:rPr>
              <a:t>modeling data </a:t>
            </a:r>
            <a:r>
              <a:rPr lang="en-GB" i="1" dirty="0"/>
              <a:t>with the goal of </a:t>
            </a:r>
            <a:r>
              <a:rPr lang="en-GB" b="1" i="1" dirty="0">
                <a:solidFill>
                  <a:srgbClr val="4B68F1"/>
                </a:solidFill>
              </a:rPr>
              <a:t>discovering useful information</a:t>
            </a:r>
            <a:r>
              <a:rPr lang="en-GB" i="1" dirty="0"/>
              <a:t>, </a:t>
            </a:r>
            <a:r>
              <a:rPr lang="en-GB" b="1" i="1" dirty="0">
                <a:solidFill>
                  <a:srgbClr val="4B68F1"/>
                </a:solidFill>
              </a:rPr>
              <a:t>informing conclusion and supporting decision-making</a:t>
            </a:r>
            <a:r>
              <a:rPr lang="en-GB" i="1" dirty="0"/>
              <a:t>.</a:t>
            </a:r>
            <a:endParaRPr i="1" dirty="0"/>
          </a:p>
          <a:p>
            <a:pPr marL="0" lvl="0" indent="0" algn="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u="sng" dirty="0">
                <a:solidFill>
                  <a:schemeClr val="hlink"/>
                </a:solidFill>
                <a:hlinkClick r:id="rId2"/>
              </a:rPr>
              <a:t>Definition by Wikipedia</a:t>
            </a:r>
            <a:endParaRPr dirty="0"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757037" y="3986687"/>
            <a:ext cx="105088" cy="105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 flipH="1">
            <a:off x="6111974" y="547251"/>
            <a:ext cx="204025" cy="2040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title"/>
          </p:nvPr>
        </p:nvSpPr>
        <p:spPr>
          <a:xfrm>
            <a:off x="862125" y="1191075"/>
            <a:ext cx="747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What is Data Analysis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Data Analysis Tools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609800" y="455075"/>
            <a:ext cx="34626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Data Analysis Tools</a:t>
            </a:r>
            <a:endParaRPr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929753" y="1041575"/>
            <a:ext cx="34170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Excel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Power Pivot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Power Query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Power BI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Microsoft SQL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Python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4B68F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Jupyter Notebook</a:t>
            </a:r>
            <a:endParaRPr lang="en-GB"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B68F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186069" y="2190961"/>
            <a:ext cx="2806168" cy="947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2437225" y="2016825"/>
            <a:ext cx="4269600" cy="111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Why Python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for Data Analysis?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/>
        </p:nvPicPr>
        <p:blipFill>
          <a:blip r:embed="rId1"/>
          <a:stretch>
            <a:fillRect/>
          </a:stretch>
        </p:blipFill>
        <p:spPr>
          <a:xfrm flipH="1">
            <a:off x="6" y="0"/>
            <a:ext cx="764428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>
            <a:spLocks noGrp="1"/>
          </p:cNvSpPr>
          <p:nvPr>
            <p:ph type="title"/>
          </p:nvPr>
        </p:nvSpPr>
        <p:spPr>
          <a:xfrm>
            <a:off x="610300" y="673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Why Python for Data Analysis?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86" name="Google Shape;186;p25"/>
          <p:cNvSpPr txBox="1">
            <a:spLocks noGrp="1"/>
          </p:cNvSpPr>
          <p:nvPr>
            <p:ph type="body" idx="1"/>
          </p:nvPr>
        </p:nvSpPr>
        <p:spPr>
          <a:xfrm>
            <a:off x="690050" y="1170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/>
              <a:t>👍 very simple and intuitive to learn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👍 “correct” language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GB" dirty="0"/>
              <a:t>👍 powerful libraries (not just for Data Analysis)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👍 free and open source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dirty="0"/>
              <a:t>👍 amazing community, docs and conferences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Data Analysis</a:t>
            </a:r>
            <a:endParaRPr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Process</a:t>
            </a:r>
            <a:endParaRPr>
              <a:solidFill>
                <a:schemeClr val="lt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08325" y="199713"/>
            <a:ext cx="7313775" cy="474407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/>
        </p:nvSpPr>
        <p:spPr>
          <a:xfrm>
            <a:off x="7137200" y="1444075"/>
            <a:ext cx="17481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Building Machine Learning Models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Feature Engineering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Moving ML into production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Building ETL pipelines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Live dashboard and reporting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Decision making and real-life tests</a:t>
            </a:r>
            <a:endParaRPr sz="1100"/>
          </a:p>
        </p:txBody>
      </p:sp>
      <p:sp>
        <p:nvSpPr>
          <p:cNvPr id="211" name="Google Shape;211;p28"/>
          <p:cNvSpPr txBox="1"/>
          <p:nvPr/>
        </p:nvSpPr>
        <p:spPr>
          <a:xfrm>
            <a:off x="5465350" y="1444075"/>
            <a:ext cx="17481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Exploration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Building statistical models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Visualization and representations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Correlation vs Causation analysis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Hypothesis testing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Statistical analysis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Reporting</a:t>
            </a:r>
            <a:endParaRPr sz="1100"/>
          </a:p>
        </p:txBody>
      </p:sp>
      <p:sp>
        <p:nvSpPr>
          <p:cNvPr id="212" name="Google Shape;212;p28"/>
          <p:cNvSpPr txBox="1"/>
          <p:nvPr/>
        </p:nvSpPr>
        <p:spPr>
          <a:xfrm>
            <a:off x="3697950" y="1444075"/>
            <a:ext cx="17481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Hierarchical Data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Handling categorical data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Reshaping and transforming structures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Indexing data for quick access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Merging, combining and joining data</a:t>
            </a:r>
            <a:endParaRPr sz="1100"/>
          </a:p>
        </p:txBody>
      </p:sp>
      <p:sp>
        <p:nvSpPr>
          <p:cNvPr id="213" name="Google Shape;213;p28"/>
          <p:cNvSpPr txBox="1"/>
          <p:nvPr/>
        </p:nvSpPr>
        <p:spPr>
          <a:xfrm>
            <a:off x="1969225" y="1444075"/>
            <a:ext cx="17481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/>
              <a:t>Missing values and empty data</a:t>
            </a:r>
            <a:endParaRPr sz="1100"/>
          </a:p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Data imputation</a:t>
            </a:r>
            <a:endParaRPr sz="1100"/>
          </a:p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Incorrect types</a:t>
            </a:r>
            <a:endParaRPr sz="1100"/>
          </a:p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Incorrect or invalid values</a:t>
            </a:r>
            <a:endParaRPr sz="1100"/>
          </a:p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Outliers and non relevant data</a:t>
            </a:r>
            <a:endParaRPr sz="1100"/>
          </a:p>
          <a:p>
            <a:pPr marL="1714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Statistical sanitization</a:t>
            </a:r>
            <a:endParaRPr sz="1100"/>
          </a:p>
        </p:txBody>
      </p:sp>
      <p:sp>
        <p:nvSpPr>
          <p:cNvPr id="214" name="Google Shape;214;p28"/>
          <p:cNvSpPr/>
          <p:nvPr/>
        </p:nvSpPr>
        <p:spPr>
          <a:xfrm>
            <a:off x="95750" y="477500"/>
            <a:ext cx="1998900" cy="716100"/>
          </a:xfrm>
          <a:prstGeom prst="chevron">
            <a:avLst>
              <a:gd name="adj" fmla="val 50000"/>
            </a:avLst>
          </a:prstGeom>
          <a:solidFill>
            <a:srgbClr val="9FC5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Data Extraction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1843813" y="477500"/>
            <a:ext cx="1998900" cy="716100"/>
          </a:xfrm>
          <a:prstGeom prst="chevron">
            <a:avLst>
              <a:gd name="adj" fmla="val 50000"/>
            </a:avLst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Raleway"/>
                <a:ea typeface="Raleway"/>
                <a:cs typeface="Raleway"/>
                <a:sym typeface="Raleway"/>
              </a:rPr>
              <a:t>Data Cleaning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3591875" y="477500"/>
            <a:ext cx="1998900" cy="716100"/>
          </a:xfrm>
          <a:prstGeom prst="chevron">
            <a:avLst>
              <a:gd name="adj" fmla="val 50000"/>
            </a:avLst>
          </a:prstGeom>
          <a:solidFill>
            <a:srgbClr val="4B68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Data Wrangling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5339938" y="477500"/>
            <a:ext cx="1998900" cy="716100"/>
          </a:xfrm>
          <a:prstGeom prst="chevron">
            <a:avLst>
              <a:gd name="adj" fmla="val 50000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Analysis</a:t>
            </a:r>
            <a:endParaRPr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324350" y="1444075"/>
            <a:ext cx="1519500" cy="28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SQL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Scrapping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File Formats</a:t>
            </a:r>
            <a:endParaRPr sz="1100"/>
          </a:p>
          <a:p>
            <a:pPr marL="400050" lvl="1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CSV</a:t>
            </a:r>
            <a:endParaRPr sz="1100"/>
          </a:p>
          <a:p>
            <a:pPr marL="400050" lvl="1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JSON</a:t>
            </a:r>
            <a:endParaRPr sz="1100"/>
          </a:p>
          <a:p>
            <a:pPr marL="400050" lvl="1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GB" sz="1100"/>
              <a:t>XML</a:t>
            </a:r>
            <a:endParaRPr sz="1100"/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Consulting APIs</a:t>
            </a:r>
            <a:endParaRPr sz="1100">
              <a:solidFill>
                <a:schemeClr val="dk1"/>
              </a:solidFill>
            </a:endParaRPr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Buying Data</a:t>
            </a:r>
            <a:endParaRPr sz="1100">
              <a:solidFill>
                <a:schemeClr val="dk1"/>
              </a:solidFill>
            </a:endParaRPr>
          </a:p>
          <a:p>
            <a:pPr marL="285750" lvl="0" indent="-184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Distributed Databases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7088000" y="477500"/>
            <a:ext cx="1998900" cy="716100"/>
          </a:xfrm>
          <a:prstGeom prst="chevron">
            <a:avLst>
              <a:gd name="adj" fmla="val 50000"/>
            </a:avLst>
          </a:prstGeom>
          <a:solidFill>
            <a:srgbClr val="264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Action</a:t>
            </a:r>
            <a:endParaRPr sz="12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6115" y="423545"/>
            <a:ext cx="5271770" cy="4296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3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284625" y="766200"/>
            <a:ext cx="66675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>
            <a:spLocks noGrp="1"/>
          </p:cNvSpPr>
          <p:nvPr>
            <p:ph type="title" idx="4294967295"/>
          </p:nvPr>
        </p:nvSpPr>
        <p:spPr>
          <a:xfrm>
            <a:off x="1863075" y="445025"/>
            <a:ext cx="54177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DATA ANALYSIS VS DATA SCIENCE</a:t>
            </a:r>
            <a:endParaRPr sz="1200" b="1">
              <a:solidFill>
                <a:srgbClr val="4B68F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traditional view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303876" y="162491"/>
            <a:ext cx="2230800" cy="14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795612" y="1160639"/>
            <a:ext cx="4747026" cy="29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8"/>
          <p:cNvSpPr txBox="1">
            <a:spLocks noGrp="1"/>
          </p:cNvSpPr>
          <p:nvPr>
            <p:ph type="body" idx="1"/>
          </p:nvPr>
        </p:nvSpPr>
        <p:spPr>
          <a:xfrm>
            <a:off x="2778145" y="1727100"/>
            <a:ext cx="596580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G" dirty="0"/>
              <a:t>Duplicate information</a:t>
            </a:r>
            <a:endParaRPr lang="en-SG" dirty="0"/>
          </a:p>
          <a:p>
            <a:r>
              <a:rPr lang="en-SG" dirty="0"/>
              <a:t>Incomplete (think missing contact fields)</a:t>
            </a:r>
            <a:endParaRPr lang="en-SG" dirty="0"/>
          </a:p>
          <a:p>
            <a:r>
              <a:rPr lang="en-SG" dirty="0"/>
              <a:t>Outdated</a:t>
            </a:r>
            <a:endParaRPr lang="en-SG" dirty="0"/>
          </a:p>
          <a:p>
            <a:r>
              <a:rPr lang="en-SG" dirty="0"/>
              <a:t>Incorrectly input</a:t>
            </a:r>
            <a:endParaRPr lang="en-SG" dirty="0"/>
          </a:p>
          <a:p>
            <a:r>
              <a:rPr lang="en-SG" dirty="0"/>
              <a:t>Misspellings, typos, and multiple spelling variations</a:t>
            </a:r>
            <a:endParaRPr lang="en-SG" dirty="0"/>
          </a:p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2180227" y="341340"/>
            <a:ext cx="38329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SG" dirty="0">
                <a:solidFill>
                  <a:srgbClr val="264280"/>
                </a:solidFill>
                <a:latin typeface="Raleway ExtraBold"/>
              </a:rPr>
              <a:t>What is dirty data?</a:t>
            </a:r>
            <a:br>
              <a:rPr lang="en-SG" dirty="0"/>
            </a:br>
            <a:endParaRPr dirty="0"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682625" y="370804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8"/>
          <p:cNvPicPr preferRelativeResize="0"/>
          <p:nvPr/>
        </p:nvPicPr>
        <p:blipFill>
          <a:blip r:embed="rId2"/>
          <a:stretch>
            <a:fillRect/>
          </a:stretch>
        </p:blipFill>
        <p:spPr>
          <a:xfrm rot="10800000">
            <a:off x="6091433" y="332567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1173358" y="1000991"/>
            <a:ext cx="642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dirty="0">
                <a:solidFill>
                  <a:schemeClr val="dk2"/>
                </a:solidFill>
              </a:rPr>
              <a:t>Data is deemed dirty when it has the following characteristics:</a:t>
            </a:r>
            <a:endParaRPr lang="en-SG"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48" y="291213"/>
            <a:ext cx="8053981" cy="4561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Python &amp; PyData Ecosystem</a:t>
            </a:r>
            <a:endParaRPr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770350" y="162492"/>
            <a:ext cx="2230800" cy="144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2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3744401" y="180291"/>
            <a:ext cx="2230800" cy="14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768900" y="521225"/>
            <a:ext cx="4260300" cy="76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4B68F1"/>
                </a:solidFill>
              </a:rPr>
              <a:t>PYTHON ECOSYSTEM:</a:t>
            </a:r>
            <a:endParaRPr sz="1200"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6428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The libraries we use...</a:t>
            </a:r>
            <a:endParaRPr>
              <a:solidFill>
                <a:srgbClr val="26428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1067400" y="1398725"/>
            <a:ext cx="7009200" cy="32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2"/>
              </a:rPr>
              <a:t>pandas</a:t>
            </a:r>
            <a:r>
              <a:rPr lang="en-GB" sz="1300"/>
              <a:t>: The cornerstone of our Data Analysis job with Python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3"/>
              </a:rPr>
              <a:t>matplotlib</a:t>
            </a:r>
            <a:r>
              <a:rPr lang="en-GB" sz="1300"/>
              <a:t>: The foundational library for visualizations. Other libraries we’ll use will be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4"/>
              </a:rPr>
              <a:t>numpy</a:t>
            </a:r>
            <a:r>
              <a:rPr lang="en-GB" sz="1300"/>
              <a:t>: The numeric library that serves as the foundation of all calculations in Python.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5"/>
              </a:rPr>
              <a:t>seaborn</a:t>
            </a:r>
            <a:r>
              <a:rPr lang="en-GB" sz="1300"/>
              <a:t>: A statistical visualization tool built on top of matplotlib.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6"/>
              </a:rPr>
              <a:t>statsmodels</a:t>
            </a:r>
            <a:r>
              <a:rPr lang="en-GB" sz="1300"/>
              <a:t>: A library with many advanced statistical functions.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7"/>
              </a:rPr>
              <a:t>scipy</a:t>
            </a:r>
            <a:r>
              <a:rPr lang="en-GB" sz="1300"/>
              <a:t>: Advanced scientific computing, including functions for optimization, linear algebra, image processing and much more.</a:t>
            </a:r>
            <a:endParaRPr sz="1300"/>
          </a:p>
          <a:p>
            <a:pPr marL="457200" lvl="0" indent="-311150" algn="l" rtl="0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 u="sng">
                <a:solidFill>
                  <a:schemeClr val="hlink"/>
                </a:solidFill>
                <a:hlinkClick r:id="rId8"/>
              </a:rPr>
              <a:t>scikit-learn</a:t>
            </a:r>
            <a:r>
              <a:rPr lang="en-GB" sz="1300"/>
              <a:t>: The most popular machine learning library for Python (not deep learning)</a:t>
            </a:r>
            <a:endParaRPr sz="1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351725" y="255627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18125" y="1375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611425" y="39276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Thank you</a:t>
            </a:r>
            <a:endParaRPr dirty="0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2402</Words>
  <Application>WPS Presentation</Application>
  <PresentationFormat>On-screen Show (16:9)</PresentationFormat>
  <Paragraphs>119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Arial</vt:lpstr>
      <vt:lpstr>Raleway ExtraBold</vt:lpstr>
      <vt:lpstr>Raleway</vt:lpstr>
      <vt:lpstr>Microsoft YaHei</vt:lpstr>
      <vt:lpstr>Arial Unicode MS</vt:lpstr>
      <vt:lpstr>Simple Light</vt:lpstr>
      <vt:lpstr>Data Analysis</vt:lpstr>
      <vt:lpstr>About this tutorial</vt:lpstr>
      <vt:lpstr>What is Data Analysis?</vt:lpstr>
      <vt:lpstr>What is Data Analysis</vt:lpstr>
      <vt:lpstr>Data Analysis Tools</vt:lpstr>
      <vt:lpstr>PowerPoint 演示文稿</vt:lpstr>
      <vt:lpstr>for Data Analysis?</vt:lpstr>
      <vt:lpstr>Why Python for Data Analysis?</vt:lpstr>
      <vt:lpstr>Process</vt:lpstr>
      <vt:lpstr>PowerPoint 演示文稿</vt:lpstr>
      <vt:lpstr>PowerPoint 演示文稿</vt:lpstr>
      <vt:lpstr>The traditional view</vt:lpstr>
      <vt:lpstr>What is dirty data? </vt:lpstr>
      <vt:lpstr>PowerPoint 演示文稿</vt:lpstr>
      <vt:lpstr>Python &amp; PyData Ecosystem</vt:lpstr>
      <vt:lpstr>The libraries we use...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WPS_1711769575</cp:lastModifiedBy>
  <cp:revision>5</cp:revision>
  <dcterms:created xsi:type="dcterms:W3CDTF">2026-10-20T02:03:00Z</dcterms:created>
  <dcterms:modified xsi:type="dcterms:W3CDTF">2026-10-26T00:53:19Z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D1D95303C733433ABB59E908D4320B4F_12</vt:lpwstr>
  </property>
  <property fmtid="{D5CDD505-2E9C-101B-9397-08002B2CF9AE}" pid="3" name="KSOProductBuildVer">
    <vt:lpwstr>1033-12.1.0.29162</vt:lpwstr>
  </property>
</Properties>
</file>