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731520" y="4297680"/>
            <a:ext cx="5943600" cy="1371600"/>
          </a:xfrm>
          <a:prstGeom prst="parallelogram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1523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79" y="-822960"/>
            <a:ext cx="2377440" cy="2377440"/>
          </a:xfrm>
          <a:prstGeom prst="ellipse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79" y="-365760"/>
            <a:ext cx="1463040" cy="1463040"/>
          </a:xfrm>
          <a:prstGeom prst="ellipse">
            <a:avLst/>
          </a:prstGeom>
          <a:solidFill>
            <a:srgbClr val="2C4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321040" y="0"/>
            <a:ext cx="731520" cy="7315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548640"/>
            <a:ext cx="109728" cy="109728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5486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298448"/>
            <a:ext cx="82296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1170432"/>
            <a:ext cx="54864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dirty="0">
                <a:solidFill>
                  <a:srgbClr val="E5C76B"/>
                </a:solidFill>
                <a:latin typeface="Calibri"/>
              </a:rPr>
              <a:t>CAPSTONE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691640"/>
            <a:ext cx="7772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Predictive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80360"/>
            <a:ext cx="3200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68580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D8DCE3"/>
                </a:solidFill>
                <a:latin typeface="Georgia"/>
              </a:rPr>
              <a:t>8.1  Heart Disease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5C76B"/>
                </a:solidFill>
                <a:latin typeface="Calibri"/>
              </a:rPr>
              <a:t>Machine Learning  ·  Classification Model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About this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325880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1746504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194767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194767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1947672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Problem statement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2368296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256946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56946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569464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Research objectives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2990088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319125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19125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191256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Predictive models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3611880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3813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8130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813048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Accuracy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4233672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54880" y="13258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1325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1325880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Data Cleaning, Transformation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1746504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754880" y="194767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0" y="194767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1947672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Confusion Matrix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368296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754880" y="256946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0" y="256946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2569464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Future expansions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2990088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754880" y="319125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319125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3191256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Data Analysis Tools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3611880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754880" y="38130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0" y="38130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3813048"/>
            <a:ext cx="33832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Q &amp; 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4233672"/>
            <a:ext cx="32004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493776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500" b="0" dirty="0">
                <a:solidFill>
                  <a:srgbClr val="1A2433"/>
                </a:solidFill>
                <a:latin typeface="Calibri"/>
              </a:rPr>
              <a:t>This project allows to integrate and apply the knowledge, skills and concepts that you have acquired throughout the academic journey.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13229"/>
            <a:ext cx="493776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500" b="0" dirty="0">
                <a:solidFill>
                  <a:srgbClr val="1A2433"/>
                </a:solidFill>
                <a:latin typeface="Calibri"/>
              </a:rPr>
              <a:t>It allows to demonstrate the understanding of key concepts, methodologies and best practices.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493776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dirty="0">
                <a:solidFill>
                  <a:srgbClr val="C9A227"/>
                </a:solidFill>
                <a:latin typeface="Calibri"/>
              </a:rPr>
              <a:t>•  </a:t>
            </a:r>
            <a:r>
              <a:rPr sz="1500" b="0" dirty="0">
                <a:solidFill>
                  <a:srgbClr val="1A2433"/>
                </a:solidFill>
                <a:latin typeface="Calibri"/>
              </a:rPr>
              <a:t>It helps in professional development by fostering skills such as time management, teamwork and problem solving.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234440"/>
            <a:ext cx="29260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9C6B3F"/>
                </a:solidFill>
                <a:latin typeface="Calibri"/>
              </a:rPr>
              <a:t>DATA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600200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0" y="1600200"/>
            <a:ext cx="50800" cy="6583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1655064"/>
            <a:ext cx="27432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Parkway Pantai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47672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Calibri"/>
              </a:rPr>
              <a:t>Data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50008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0720" y="2350008"/>
            <a:ext cx="50800" cy="658368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2404872"/>
            <a:ext cx="27432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70,000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697480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Calibri"/>
              </a:rPr>
              <a:t>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099816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3099816"/>
            <a:ext cx="50800" cy="658368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154680"/>
            <a:ext cx="27432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2018 –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47288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Calibri"/>
              </a:rPr>
              <a:t>collection period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3849624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0" y="3849624"/>
            <a:ext cx="50800" cy="65836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3904488"/>
            <a:ext cx="27432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4 countries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197096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Calibri"/>
              </a:rPr>
              <a:t>India · Indonesia · Malaysia · Singapore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Problem statement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7863840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63500" cy="3017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1691640"/>
            <a:ext cx="7223760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>
                <a:solidFill>
                  <a:srgbClr val="1A2433"/>
                </a:solidFill>
                <a:latin typeface="Calibri"/>
              </a:rPr>
              <a:t>Heart disease is a leading cause of mortality worldwide. </a:t>
            </a:r>
            <a:r>
              <a:rPr sz="1800" b="1">
                <a:solidFill>
                  <a:srgbClr val="13294B"/>
                </a:solidFill>
                <a:latin typeface="Calibri"/>
              </a:rPr>
              <a:t>Early detection</a:t>
            </a:r>
            <a:r>
              <a:rPr sz="1800" b="0">
                <a:solidFill>
                  <a:srgbClr val="1A2433"/>
                </a:solidFill>
                <a:latin typeface="Calibri"/>
              </a:rPr>
              <a:t> and </a:t>
            </a:r>
            <a:r>
              <a:rPr sz="1800" b="1">
                <a:solidFill>
                  <a:srgbClr val="13294B"/>
                </a:solidFill>
                <a:latin typeface="Calibri"/>
              </a:rPr>
              <a:t>accurate </a:t>
            </a:r>
            <a:r>
              <a:rPr sz="1800" b="0">
                <a:solidFill>
                  <a:srgbClr val="1A2433"/>
                </a:solidFill>
                <a:latin typeface="Calibri"/>
              </a:rPr>
              <a:t>prediction of heart disease can significantly improve patient outcomes by enabling </a:t>
            </a:r>
            <a:r>
              <a:rPr sz="1800" b="1">
                <a:solidFill>
                  <a:srgbClr val="13294B"/>
                </a:solidFill>
                <a:latin typeface="Calibri"/>
              </a:rPr>
              <a:t>timely intervention</a:t>
            </a:r>
            <a:r>
              <a:rPr sz="1800" b="0">
                <a:solidFill>
                  <a:srgbClr val="1A2433"/>
                </a:solidFill>
                <a:latin typeface="Calibri"/>
              </a:rPr>
              <a:t> and </a:t>
            </a:r>
            <a:r>
              <a:rPr sz="1800" b="1">
                <a:solidFill>
                  <a:srgbClr val="13294B"/>
                </a:solidFill>
                <a:latin typeface="Calibri"/>
              </a:rPr>
              <a:t>preventive measures</a:t>
            </a:r>
            <a:r>
              <a:rPr sz="1800" b="0">
                <a:solidFill>
                  <a:srgbClr val="1A2433"/>
                </a:solidFill>
                <a:latin typeface="Calibri"/>
              </a:rPr>
              <a:t>. The objective of this project is to develop a machine learning </a:t>
            </a:r>
            <a:r>
              <a:rPr sz="1800" b="1">
                <a:solidFill>
                  <a:srgbClr val="13294B"/>
                </a:solidFill>
                <a:latin typeface="Calibri"/>
              </a:rPr>
              <a:t>model </a:t>
            </a:r>
            <a:r>
              <a:rPr sz="1800" b="0">
                <a:solidFill>
                  <a:srgbClr val="1A2433"/>
                </a:solidFill>
                <a:latin typeface="Calibri"/>
              </a:rPr>
              <a:t>that can effectively predict the presence or absence of heart disease based on </a:t>
            </a:r>
            <a:r>
              <a:rPr sz="1800" b="1">
                <a:solidFill>
                  <a:srgbClr val="13294B"/>
                </a:solidFill>
                <a:latin typeface="Calibri"/>
              </a:rPr>
              <a:t>various medical </a:t>
            </a:r>
            <a:r>
              <a:rPr sz="1800" b="0">
                <a:solidFill>
                  <a:srgbClr val="1A2433"/>
                </a:solidFill>
                <a:latin typeface="Calibri"/>
              </a:rPr>
              <a:t>and </a:t>
            </a:r>
            <a:r>
              <a:rPr sz="1800" b="1">
                <a:solidFill>
                  <a:srgbClr val="13294B"/>
                </a:solidFill>
                <a:latin typeface="Calibri"/>
              </a:rPr>
              <a:t>lifestyle factors</a:t>
            </a:r>
            <a:r>
              <a:rPr sz="1800" b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Research 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325880"/>
            <a:ext cx="7315200" cy="47548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1325880"/>
            <a:ext cx="69494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Identify possible causes of getting heart disease.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029968"/>
            <a:ext cx="365760" cy="365760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02996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1984248"/>
            <a:ext cx="7315200" cy="47548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1984248"/>
            <a:ext cx="69494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Identify segments that have high chance of getting heart disease.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2688336"/>
            <a:ext cx="365760" cy="365760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68833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2642616"/>
            <a:ext cx="7315200" cy="47548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2642616"/>
            <a:ext cx="69494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Create models to predict heart disease.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346704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34670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3300984"/>
            <a:ext cx="7315200" cy="47548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3300984"/>
            <a:ext cx="69494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Preventive measures to get heart disease.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005072"/>
            <a:ext cx="365760" cy="365760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00507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3959352"/>
            <a:ext cx="7315200" cy="475488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3959352"/>
            <a:ext cx="6949440" cy="4754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1A2433"/>
                </a:solidFill>
                <a:latin typeface="Calibri"/>
              </a:rPr>
              <a:t>Detection of heart disease.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Predictive models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Create models to predict heart disease.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691640"/>
            <a:ext cx="260604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196596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965960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1892808"/>
            <a:ext cx="192024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Linear Logistic Regression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16916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29000" y="1691640"/>
            <a:ext cx="2606040" cy="508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11880" y="1965960"/>
            <a:ext cx="310896" cy="310896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1965960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1892808"/>
            <a:ext cx="192024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Linear Support Vector Machine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916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1691640"/>
            <a:ext cx="2606040" cy="50800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92240" y="1965960"/>
            <a:ext cx="310896" cy="310896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965960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892808"/>
            <a:ext cx="192024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K Nearest Neighbours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24612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246120"/>
            <a:ext cx="2606040" cy="50800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1520" y="3520440"/>
            <a:ext cx="310896" cy="310896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520440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447288"/>
            <a:ext cx="192024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Naive Bayes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324612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29000" y="3246120"/>
            <a:ext cx="260604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11880" y="352044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3520440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3447288"/>
            <a:ext cx="192024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Decision Tree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24612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3246120"/>
            <a:ext cx="2606040" cy="508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92240" y="3520440"/>
            <a:ext cx="310896" cy="310896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3520440"/>
            <a:ext cx="310896" cy="3108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447288"/>
            <a:ext cx="1920240" cy="10058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Random Forest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Accuracy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7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1170432"/>
          <a:ext cx="8503920" cy="352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70% Train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80% Train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90% Train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One-Hot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Encoding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One-Hot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Encoding SG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Label,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One-Hot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4 features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8100" marR="38100" marT="25400" marB="25400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5A647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72.43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72.41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72.49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73.26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71.46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5A647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51.42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57.26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49.11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50.90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45.45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32.29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50.67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5A647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K Neighbors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71.11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70.99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71.23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70.96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70.80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72.10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70.64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K Neighbors Max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71.20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71.28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71.53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71.20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71.35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72.26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70.88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5A647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Categorical NB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72.35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72.26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72.17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72.88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72.51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70.65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Gaussian NB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69.66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69.68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69.80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69.64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70.86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69.38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69.52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5A647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72.32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72.67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72.32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72.92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71.70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Decision Tree Max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72.58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72.59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9A227"/>
                          </a:solidFill>
                          <a:latin typeface="Calibri"/>
                        </a:rPr>
                        <a:t>72.67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72.58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73.03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72.98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9A227"/>
                          </a:solidFill>
                          <a:latin typeface="Calibri"/>
                        </a:rPr>
                        <a:t>71.72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5A647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72.59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72.57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73.16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73.05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71.10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3294B"/>
                          </a:solidFill>
                          <a:latin typeface="Calibri"/>
                        </a:rPr>
                        <a:t>Random Forest Max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9A227"/>
                          </a:solidFill>
                          <a:latin typeface="Calibri"/>
                        </a:rPr>
                        <a:t>72.70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9A227"/>
                          </a:solidFill>
                          <a:latin typeface="Calibri"/>
                        </a:rPr>
                        <a:t>72.76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72.64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9A227"/>
                          </a:solidFill>
                          <a:latin typeface="Calibri"/>
                        </a:rPr>
                        <a:t>72.73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9A227"/>
                          </a:solidFill>
                          <a:latin typeface="Calibri"/>
                        </a:rPr>
                        <a:t>73.31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9A227"/>
                          </a:solidFill>
                          <a:latin typeface="Calibri"/>
                        </a:rPr>
                        <a:t>73.16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A2433"/>
                          </a:solidFill>
                          <a:latin typeface="Calibri"/>
                        </a:rPr>
                        <a:t>71.13</a:t>
                      </a:r>
                    </a:p>
                  </a:txBody>
                  <a:tcPr marL="38100" marR="38100" marT="12700" marB="12700" anchor="ctr">
                    <a:solidFill>
                      <a:srgbClr val="EE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Insights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143000"/>
            <a:ext cx="8229600" cy="502920"/>
          </a:xfrm>
          <a:prstGeom prst="roundRect">
            <a:avLst>
              <a:gd name="adj" fmla="val 1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143000"/>
            <a:ext cx="78638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5C76B"/>
                </a:solidFill>
                <a:latin typeface="Calibri"/>
              </a:rPr>
              <a:t>4 Main features:  </a:t>
            </a:r>
            <a:r>
              <a:rPr sz="1400" b="0">
                <a:solidFill>
                  <a:srgbClr val="FFFFFF"/>
                </a:solidFill>
                <a:latin typeface="Calibri"/>
              </a:rPr>
              <a:t>age_group, ap_hi, ap_lo, cholesterol</a:t>
            </a:r>
            <a:r>
              <a:rPr sz="1400" b="1">
                <a:solidFill>
                  <a:srgbClr val="E5C76B"/>
                </a:solidFill>
                <a:latin typeface="Calibri"/>
              </a:rPr>
              <a:t>    ·    71%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828800"/>
            <a:ext cx="260604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828800"/>
            <a:ext cx="260604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alibri"/>
              </a:rPr>
              <a:t>Age group getting heart disease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31720"/>
            <a:ext cx="11887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≥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31720"/>
            <a:ext cx="1097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24.3%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60904"/>
            <a:ext cx="2240280" cy="635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788920"/>
            <a:ext cx="11887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≥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788920"/>
            <a:ext cx="1097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38.0%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18104"/>
            <a:ext cx="2240280" cy="635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11887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≥ 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246120"/>
            <a:ext cx="1097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51.6%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575304"/>
            <a:ext cx="2240280" cy="635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703320"/>
            <a:ext cx="11887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≥ 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703320"/>
            <a:ext cx="1097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67.0%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32504"/>
            <a:ext cx="2240280" cy="635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64408" y="182880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64408" y="1828800"/>
            <a:ext cx="2606040" cy="384048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64408" y="1828800"/>
            <a:ext cx="260604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Blood Pressure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47288" y="2377440"/>
            <a:ext cx="22402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1">
                <a:solidFill>
                  <a:srgbClr val="1A2433"/>
                </a:solidFill>
                <a:latin typeface="Calibri"/>
              </a:rPr>
              <a:t>Heart disease when: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solidFill>
                  <a:srgbClr val="1E3A63"/>
                </a:solidFill>
                <a:latin typeface="Calibri"/>
              </a:rPr>
              <a:t>ap_hi &gt; 130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solidFill>
                  <a:srgbClr val="1E3A63"/>
                </a:solidFill>
                <a:latin typeface="Calibri"/>
              </a:rPr>
              <a:t>ap_lo &gt; 90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71616" y="182880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71616" y="1828800"/>
            <a:ext cx="2606040" cy="384048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71616" y="1828800"/>
            <a:ext cx="260604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Cholesterol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2331720"/>
            <a:ext cx="11887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Level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6" y="2331720"/>
            <a:ext cx="1097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9C6B3F"/>
                </a:solidFill>
                <a:latin typeface="Calibri"/>
              </a:rPr>
              <a:t>44%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2660904"/>
            <a:ext cx="2240280" cy="635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54496" y="2788920"/>
            <a:ext cx="11887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Level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1776" y="2788920"/>
            <a:ext cx="1097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9C6B3F"/>
                </a:solidFill>
                <a:latin typeface="Calibri"/>
              </a:rPr>
              <a:t>60.2%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3118104"/>
            <a:ext cx="2240280" cy="635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54496" y="3246120"/>
            <a:ext cx="118872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Level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1776" y="3246120"/>
            <a:ext cx="1097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9C6B3F"/>
                </a:solidFill>
                <a:latin typeface="Calibri"/>
              </a:rPr>
              <a:t>76.5%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4496" y="3575304"/>
            <a:ext cx="2240280" cy="6350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No significance </a:t>
            </a:r>
            <a:r>
              <a:rPr sz="1200" b="0">
                <a:solidFill>
                  <a:srgbClr val="5A6478"/>
                </a:solidFill>
                <a:latin typeface="Calibri"/>
              </a:rPr>
              <a:t>of heart disease by country, occupation, gender, active, alco, gluc, smoke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Data Cleaning, Transformation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143000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143000"/>
            <a:ext cx="50800" cy="402336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792" y="1197864"/>
            <a:ext cx="274320" cy="274320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1197864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170432"/>
            <a:ext cx="758952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gender:  </a:t>
            </a:r>
            <a:r>
              <a:rPr sz="1100" b="0">
                <a:solidFill>
                  <a:srgbClr val="1A2433"/>
                </a:solidFill>
                <a:latin typeface="Consolas"/>
              </a:rPr>
              <a:t>1 = Male    2 = Female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591056"/>
            <a:ext cx="8229600" cy="56692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591056"/>
            <a:ext cx="50800" cy="566928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1792" y="1645920"/>
            <a:ext cx="274320" cy="274320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1645920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553920"/>
            <a:ext cx="7589520" cy="64120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>
                <a:solidFill>
                  <a:srgbClr val="13294B"/>
                </a:solidFill>
                <a:latin typeface="Calibri"/>
              </a:rPr>
              <a:t>Blood pressure range:  </a:t>
            </a:r>
            <a:endParaRPr lang="en-SG" sz="1200" b="1" dirty="0">
              <a:solidFill>
                <a:srgbClr val="13294B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lang="en-SG" sz="1200" b="1" dirty="0">
                <a:solidFill>
                  <a:srgbClr val="13294B"/>
                </a:solidFill>
                <a:latin typeface="Calibri"/>
              </a:rPr>
              <a:t>	</a:t>
            </a:r>
            <a:r>
              <a:rPr sz="1100" b="0" dirty="0" err="1">
                <a:solidFill>
                  <a:srgbClr val="1A2433"/>
                </a:solidFill>
                <a:latin typeface="Consolas"/>
              </a:rPr>
              <a:t>ap_hi</a:t>
            </a:r>
            <a:r>
              <a:rPr sz="1100" b="0" dirty="0">
                <a:solidFill>
                  <a:srgbClr val="1A2433"/>
                </a:solidFill>
                <a:latin typeface="Consolas"/>
              </a:rPr>
              <a:t>: 59 to 201</a:t>
            </a:r>
            <a:r>
              <a:rPr lang="en-SG" sz="1100" dirty="0">
                <a:solidFill>
                  <a:srgbClr val="1A2433"/>
                </a:solidFill>
                <a:latin typeface="Consolas"/>
              </a:rPr>
              <a:t>, </a:t>
            </a:r>
            <a:r>
              <a:rPr lang="en-SG" sz="1100" dirty="0" err="1">
                <a:solidFill>
                  <a:srgbClr val="1A2433"/>
                </a:solidFill>
                <a:latin typeface="Consolas"/>
              </a:rPr>
              <a:t>ap_lo</a:t>
            </a:r>
            <a:r>
              <a:rPr lang="en-SG" sz="1100" dirty="0">
                <a:solidFill>
                  <a:srgbClr val="1A2433"/>
                </a:solidFill>
                <a:latin typeface="Consolas"/>
              </a:rPr>
              <a:t>: 40 to 201</a:t>
            </a:r>
            <a:r>
              <a:rPr sz="1100" b="0" dirty="0">
                <a:solidFill>
                  <a:srgbClr val="1A2433"/>
                </a:solidFill>
                <a:latin typeface="Consolas"/>
              </a:rPr>
              <a:t> — replace with min (59, 40) or max value (201)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dirty="0">
                <a:solidFill>
                  <a:srgbClr val="1A2433"/>
                </a:solidFill>
                <a:latin typeface="Consolas"/>
              </a:rPr>
              <a:t> </a:t>
            </a:r>
            <a:r>
              <a:rPr lang="en-SG" sz="1100" dirty="0">
                <a:solidFill>
                  <a:srgbClr val="1A2433"/>
                </a:solidFill>
                <a:latin typeface="Consolas"/>
              </a:rPr>
              <a:t>	</a:t>
            </a:r>
            <a:r>
              <a:rPr sz="1100" b="0" dirty="0">
                <a:solidFill>
                  <a:srgbClr val="1A2433"/>
                </a:solidFill>
                <a:latin typeface="Consolas"/>
              </a:rPr>
              <a:t>the other fields can still be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203704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2203704"/>
            <a:ext cx="50800" cy="4023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1792" y="2258568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2258568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231136"/>
            <a:ext cx="758952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age_group:  </a:t>
            </a:r>
            <a:r>
              <a:rPr sz="1100" b="0">
                <a:solidFill>
                  <a:srgbClr val="1A2433"/>
                </a:solidFill>
                <a:latin typeface="Consolas"/>
              </a:rPr>
              <a:t>age_group = age / 3650, 10 years bin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51760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50800" cy="402336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1792" y="2706624"/>
            <a:ext cx="274320" cy="274320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2706624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679192"/>
            <a:ext cx="758952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added field pca:  </a:t>
            </a:r>
            <a:r>
              <a:rPr sz="1100" b="0">
                <a:solidFill>
                  <a:srgbClr val="1A2433"/>
                </a:solidFill>
                <a:latin typeface="Consolas"/>
              </a:rPr>
              <a:t>pca = 0.5479*active + 0.2249*age_group + 0.1570*alco + 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9816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3099816"/>
            <a:ext cx="50800" cy="402336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21792" y="3154680"/>
            <a:ext cx="274320" cy="274320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3154680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3099816"/>
            <a:ext cx="7589520" cy="40233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Label encoding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547872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3547872"/>
            <a:ext cx="50800" cy="40233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21792" y="3602736"/>
            <a:ext cx="274320" cy="2743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3602736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3547872"/>
            <a:ext cx="7589520" cy="40233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One-hot encoding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995928"/>
            <a:ext cx="8229600" cy="402336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3995928"/>
            <a:ext cx="50800" cy="402336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21792" y="4050792"/>
            <a:ext cx="274320" cy="274320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4050792"/>
            <a:ext cx="2743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4023360"/>
            <a:ext cx="7589520" cy="34747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3294B"/>
                </a:solidFill>
                <a:latin typeface="Calibri"/>
              </a:rPr>
              <a:t>Z-score normalization:  </a:t>
            </a:r>
            <a:r>
              <a:rPr sz="1100" b="0">
                <a:solidFill>
                  <a:srgbClr val="1A2433"/>
                </a:solidFill>
                <a:latin typeface="Consolas"/>
              </a:rPr>
              <a:t>height, weight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Confusion Matrix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Accuracy, precision,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024128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Calibri"/>
              </a:rPr>
              <a:t>Predicted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463040"/>
            <a:ext cx="1828800" cy="457200"/>
          </a:xfrm>
          <a:prstGeom prst="rect">
            <a:avLst/>
          </a:prstGeom>
          <a:solidFill>
            <a:srgbClr val="2C4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Positive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463040"/>
            <a:ext cx="1828800" cy="457200"/>
          </a:xfrm>
          <a:prstGeom prst="rect">
            <a:avLst/>
          </a:prstGeom>
          <a:solidFill>
            <a:srgbClr val="2C4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502920" y="2103120"/>
            <a:ext cx="365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3294B"/>
                </a:solidFill>
                <a:latin typeface="Calibri"/>
              </a:rPr>
              <a:t>Actual Class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1737360"/>
            <a:ext cx="914400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1737360"/>
            <a:ext cx="9144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Positive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173736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19960" y="1737360"/>
            <a:ext cx="17780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1A2433"/>
                </a:solidFill>
                <a:latin typeface="Calibri"/>
              </a:rPr>
              <a:t>True Positive (TP)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737360"/>
            <a:ext cx="1828800" cy="868680"/>
          </a:xfrm>
          <a:prstGeom prst="rect">
            <a:avLst/>
          </a:prstGeom>
          <a:solidFill>
            <a:srgbClr val="F4F5F7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48760" y="1737360"/>
            <a:ext cx="17780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False Negative (FN)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Type II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1737360"/>
            <a:ext cx="1554480" cy="868680"/>
          </a:xfrm>
          <a:prstGeom prst="rect">
            <a:avLst/>
          </a:prstGeom>
          <a:solidFill>
            <a:srgbClr val="F4F5F7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0" y="1828800"/>
            <a:ext cx="155448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13294B"/>
                </a:solidFill>
                <a:latin typeface="Calibri"/>
              </a:rPr>
              <a:t>Sensitivity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103120"/>
            <a:ext cx="1554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433"/>
                </a:solidFill>
                <a:latin typeface="Consolas"/>
              </a:rPr>
              <a:t>TP / (TP + FN)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2606040"/>
            <a:ext cx="914400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2606040"/>
            <a:ext cx="9144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2606040"/>
            <a:ext cx="1828800" cy="868680"/>
          </a:xfrm>
          <a:prstGeom prst="rect">
            <a:avLst/>
          </a:prstGeom>
          <a:solidFill>
            <a:srgbClr val="F4F5F7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19960" y="2606040"/>
            <a:ext cx="17780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Calibri"/>
              </a:rPr>
              <a:t>False Positive (FP)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alibri"/>
              </a:rPr>
              <a:t>Type I Error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60604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48760" y="2606040"/>
            <a:ext cx="17780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1A2433"/>
                </a:solidFill>
                <a:latin typeface="Calibri"/>
              </a:rPr>
              <a:t>True Negative (TN)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606040"/>
            <a:ext cx="1554480" cy="868680"/>
          </a:xfrm>
          <a:prstGeom prst="rect">
            <a:avLst/>
          </a:prstGeom>
          <a:solidFill>
            <a:srgbClr val="F4F5F7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160" y="2697480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alibri"/>
              </a:rPr>
              <a:t>Specificity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971800"/>
            <a:ext cx="1554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A2433"/>
                </a:solidFill>
                <a:latin typeface="Consolas"/>
              </a:rPr>
              <a:t>TN / (TN + FP)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474720"/>
            <a:ext cx="1828800" cy="777240"/>
          </a:xfrm>
          <a:prstGeom prst="rect">
            <a:avLst/>
          </a:prstGeom>
          <a:solidFill>
            <a:srgbClr val="2C4A77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94560" y="3547872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5C76B"/>
                </a:solidFill>
                <a:latin typeface="Calibri"/>
              </a:rPr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22192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</a:rPr>
              <a:t>TP / (TP + FP)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474720"/>
            <a:ext cx="1828800" cy="777240"/>
          </a:xfrm>
          <a:prstGeom prst="rect">
            <a:avLst/>
          </a:prstGeom>
          <a:solidFill>
            <a:srgbClr val="2C4A77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23360" y="3547872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5C76B"/>
                </a:solidFill>
                <a:latin typeface="Calibri"/>
              </a:rPr>
              <a:t>Negative Predictive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3822192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</a:rPr>
              <a:t>TN / (TN + FN)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474720"/>
            <a:ext cx="1554480" cy="777240"/>
          </a:xfrm>
          <a:prstGeom prst="rect">
            <a:avLst/>
          </a:prstGeom>
          <a:solidFill>
            <a:srgbClr val="2C4A77"/>
          </a:solidFill>
          <a:ln w="12700">
            <a:solidFill>
              <a:srgbClr val="1E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52160" y="3547872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5C76B"/>
                </a:solidFill>
                <a:latin typeface="Calibri"/>
              </a:rPr>
              <a:t>Accuracy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3822192"/>
            <a:ext cx="155448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onsolas"/>
              </a:rPr>
              <a:t>(TP + TN) / </a:t>
            </a:r>
            <a:endParaRPr lang="en-SG" sz="900" b="0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dirty="0">
                <a:solidFill>
                  <a:srgbClr val="FFFFFF"/>
                </a:solidFill>
                <a:latin typeface="Consolas"/>
              </a:rPr>
              <a:t>(TP + TN + FP + FN)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Model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280160"/>
            <a:ext cx="8046720" cy="19659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1280160"/>
            <a:ext cx="63500" cy="1965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1353312"/>
            <a:ext cx="7589520" cy="1819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Deployment and Integration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1E3A63"/>
                </a:solidFill>
                <a:latin typeface="Calibri"/>
              </a:rPr>
              <a:t>Scalability and Adaptability — SQL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  ·  Inner Join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  ·  Left Outer Join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  ·  Right Outer Join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  ·  Full Outer Join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10712"/>
            <a:ext cx="8046720" cy="5029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63500" cy="50292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483864"/>
            <a:ext cx="7589520" cy="3566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Model Monitoring and Maintenance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78224"/>
            <a:ext cx="8046720" cy="5029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078224"/>
            <a:ext cx="63500" cy="502920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151376"/>
            <a:ext cx="7589520" cy="3566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Calibri"/>
              </a:rPr>
              <a:t>Avoid overfitting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9822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Future expansions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40233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234440"/>
            <a:ext cx="40233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Enhance features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1837944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1783080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A2433"/>
                </a:solidFill>
                <a:latin typeface="Calibri"/>
              </a:rPr>
              <a:t>physical health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2295144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240280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A2433"/>
                </a:solidFill>
                <a:latin typeface="Calibri"/>
              </a:rPr>
              <a:t>mental health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2752344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697480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A2433"/>
                </a:solidFill>
                <a:latin typeface="Calibri"/>
              </a:rPr>
              <a:t>nutrition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209544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A2433"/>
                </a:solidFill>
                <a:latin typeface="Calibri"/>
              </a:rPr>
              <a:t>lifestyle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34440"/>
            <a:ext cx="40233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ML packages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2433"/>
                </a:solidFill>
                <a:latin typeface="Calibri"/>
              </a:rPr>
              <a:t>Use ML packages </a:t>
            </a:r>
            <a:r>
              <a:rPr sz="1400" b="1">
                <a:solidFill>
                  <a:srgbClr val="13294B"/>
                </a:solidFill>
                <a:latin typeface="Calibri"/>
              </a:rPr>
              <a:t>TensorFlow</a:t>
            </a:r>
            <a:r>
              <a:rPr sz="1400" b="0">
                <a:solidFill>
                  <a:srgbClr val="1A2433"/>
                </a:solidFill>
                <a:latin typeface="Calibri"/>
              </a:rPr>
              <a:t>, </a:t>
            </a:r>
            <a:r>
              <a:rPr sz="1400" b="1">
                <a:solidFill>
                  <a:srgbClr val="13294B"/>
                </a:solidFill>
                <a:latin typeface="Calibri"/>
              </a:rPr>
              <a:t>PyTorch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A2433"/>
                </a:solidFill>
                <a:latin typeface="Calibri"/>
              </a:rPr>
              <a:t>Commercial ML packages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2880360"/>
            <a:ext cx="4023360" cy="502920"/>
          </a:xfrm>
          <a:prstGeom prst="roundRect">
            <a:avLst>
              <a:gd name="adj" fmla="val 15000"/>
            </a:avLst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2880360"/>
            <a:ext cx="402336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Computing power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731520" y="4297680"/>
            <a:ext cx="5943600" cy="1371600"/>
          </a:xfrm>
          <a:prstGeom prst="parallelogram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1523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2C4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0" y="3474720"/>
            <a:ext cx="2194560" cy="2194560"/>
          </a:xfrm>
          <a:prstGeom prst="ellipse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21040" y="4023360"/>
            <a:ext cx="1280160" cy="1280160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2148840"/>
            <a:ext cx="9144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331720"/>
            <a:ext cx="6400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Data Analysis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E5C76B"/>
                </a:solidFill>
                <a:latin typeface="Calibri"/>
              </a:rPr>
              <a:t>Python ecosystem for predictive modelling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45720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20" y="457200"/>
            <a:ext cx="128016" cy="128016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32520" y="457200"/>
            <a:ext cx="128016" cy="128016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0678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Georgia"/>
              </a:rPr>
              <a:t>The libraries we use…  PYTHON ECOSYSTEM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097280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097280"/>
            <a:ext cx="50800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097280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097280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The cornerstone of our Data Analysis job with 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097280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1097280"/>
            <a:ext cx="50800" cy="420624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1097280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097280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The numeric library that serves as the foundation of all calculations in Python.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572768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1572768"/>
            <a:ext cx="50800" cy="420624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1572768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matplotlib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1572768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The foundational library for visualizations. Other libraries we'll use will be built on top of matplotlib.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1572768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09160" y="1572768"/>
            <a:ext cx="50800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1572768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seaborn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572768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A statistical visualization tool built on top of matplotlib.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048256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2048256"/>
            <a:ext cx="50800" cy="420624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2048256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statsmodels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2048256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A library with many advanced statistical functions.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2048256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09160" y="2048256"/>
            <a:ext cx="50800" cy="420624"/>
          </a:xfrm>
          <a:prstGeom prst="rect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2048256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scipy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048256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Advanced scientific computing, including functions for optimization, linear algebra, image processing and much more.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523744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2523744"/>
            <a:ext cx="50800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2523744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scikit-learn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2523744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The most popular machine learning library for Python (not deep learning)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2523744"/>
            <a:ext cx="3977639" cy="420624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09160" y="2523744"/>
            <a:ext cx="50800" cy="420624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0" y="2523744"/>
            <a:ext cx="123444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294B"/>
                </a:solidFill>
                <a:latin typeface="Consolas"/>
              </a:rPr>
              <a:t>joblib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523744"/>
            <a:ext cx="2514600" cy="42062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1A2433"/>
                </a:solidFill>
                <a:latin typeface="Calibri"/>
              </a:rPr>
              <a:t>Save and load model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072384"/>
            <a:ext cx="8229600" cy="86868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3145536"/>
            <a:ext cx="7863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5C76B"/>
                </a:solidFill>
                <a:latin typeface="Calibri"/>
              </a:rPr>
              <a:t>Data Transform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3401568"/>
            <a:ext cx="786384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D8DCE3"/>
                </a:solidFill>
                <a:latin typeface="Consolas"/>
              </a:rPr>
              <a:t>from sklearn.preprocessing import StandardScaler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D8DCE3"/>
                </a:solidFill>
                <a:latin typeface="Consolas"/>
              </a:rPr>
              <a:t>from sklearn.preprocessing import LabelEncoder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0678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"/>
            <a:ext cx="7955279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Georgia"/>
              </a:rPr>
              <a:t>The libraries we use…  PYTHON ECOSYSTEM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256032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0" y="256032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256032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864608"/>
            <a:ext cx="8229600" cy="9525"/>
          </a:xfrm>
          <a:prstGeom prst="rect">
            <a:avLst/>
          </a:prstGeom>
          <a:solidFill>
            <a:srgbClr val="D8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90118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5A6478"/>
                </a:solidFill>
                <a:latin typeface="Calibri"/>
              </a:rPr>
              <a:t>Predictive Analytics  ·  Heart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457200" cy="2011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3294B"/>
                </a:solidFill>
                <a:latin typeface="Calibri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5000"/>
            </a:avLst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23444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5C76B"/>
                </a:solidFill>
                <a:latin typeface="Calibri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554480"/>
            <a:ext cx="4754880" cy="2834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sklearn.linear_model import LogisticRegression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sklearn.neighbors import KNeighborsClassifier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sklearn.svm import SVC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sklearn.naive_bayes import CategoricalNB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sklearn.naive_bayes import GaussianNB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sklearn.tree import DecisionTreeClassifier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sklearn.ensemble import RandomForestClassifier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097280"/>
            <a:ext cx="2926080" cy="34290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1234440"/>
            <a:ext cx="25603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5C76B"/>
                </a:solidFill>
                <a:latin typeface="Calibri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554480"/>
            <a:ext cx="256032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sklearn.metrics import confusion_matrix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sklearn.metrics import classification_report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D8DCE3"/>
                </a:solidFill>
                <a:latin typeface="Consolas"/>
              </a:rPr>
              <a:t>from sklearn.metrics import accuracy_score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731520" y="4297680"/>
            <a:ext cx="5943600" cy="1371600"/>
          </a:xfrm>
          <a:prstGeom prst="parallelogram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914400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15230"/>
            <a:ext cx="9144000" cy="12700"/>
          </a:xfrm>
          <a:prstGeom prst="rect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0" y="-1097280"/>
            <a:ext cx="3108960" cy="3108960"/>
          </a:xfrm>
          <a:prstGeom prst="ellipse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2C4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38160" y="-91440"/>
            <a:ext cx="1005840" cy="10058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4206240"/>
            <a:ext cx="146304" cy="146304"/>
          </a:xfrm>
          <a:prstGeom prst="ellipse">
            <a:avLst/>
          </a:prstGeom>
          <a:solidFill>
            <a:srgbClr val="9C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4206240"/>
            <a:ext cx="146304" cy="146304"/>
          </a:xfrm>
          <a:prstGeom prst="ellipse">
            <a:avLst/>
          </a:prstGeom>
          <a:solidFill>
            <a:srgbClr val="A8A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420624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965960"/>
            <a:ext cx="82296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73152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Georgia"/>
              </a:rPr>
              <a:t>Q &amp;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E5C76B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1053</Words>
  <Application>Microsoft Office PowerPoint</Application>
  <PresentationFormat>On-screen Show (16:9)</PresentationFormat>
  <Paragraphs>318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trainingid01</cp:lastModifiedBy>
  <cp:revision>2</cp:revision>
  <dcterms:created xsi:type="dcterms:W3CDTF">2013-01-27T09:14:16Z</dcterms:created>
  <dcterms:modified xsi:type="dcterms:W3CDTF">2026-10-27T19:47:30Z</dcterms:modified>
  <cp:category/>
</cp:coreProperties>
</file>